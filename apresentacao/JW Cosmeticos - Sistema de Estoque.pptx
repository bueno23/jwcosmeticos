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03"/>
    <p:restoredTop sz="94640"/>
  </p:normalViewPr>
  <p:slideViewPr>
    <p:cSldViewPr snapToGrid="0" snapToObjects="1">
      <p:cViewPr varScale="1">
        <p:scale>
          <a:sx n="102" d="100"/>
          <a:sy n="102" d="100"/>
        </p:scale>
        <p:origin x="74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2880360"/>
            <a:ext cx="103601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latin typeface="Calibri"/>
              </a:rPr>
              <a:t>Sistema de Controle de Estoque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B9B29F"/>
                </a:solidFill>
                <a:latin typeface="Calibri"/>
              </a:rPr>
              <a:t>Exemplo real em operação — JW Cosméticos Multimarcas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703320"/>
            <a:ext cx="1828800" cy="25400"/>
          </a:xfrm>
          <a:prstGeom prst="rect">
            <a:avLst/>
          </a:prstGeom>
          <a:solidFill>
            <a:srgbClr val="AB9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latin typeface="Calibri"/>
              </a:rPr>
              <a:t>Uma solução simples, personalizada e sob medida para o seu negócio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2A8D3F3A-EFFA-3D46-BF65-B3E5736DC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476" y="-1490598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3312C"/>
                </a:solidFill>
                <a:latin typeface="Calibri"/>
              </a:rPr>
              <a:t>O desafio de controlar o estoque na correria do dia a dia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005840" cy="38100"/>
          </a:xfrm>
          <a:prstGeom prst="rect">
            <a:avLst/>
          </a:prstGeom>
          <a:solidFill>
            <a:srgbClr val="AB9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800">
                <a:solidFill>
                  <a:srgbClr val="33312C"/>
                </a:solidFill>
                <a:latin typeface="Calibri"/>
              </a:rPr>
              <a:t>—  Planilhas soltas ou controle de cabeça, sujeitos a erro e esquecimento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800">
                <a:solidFill>
                  <a:srgbClr val="33312C"/>
                </a:solidFill>
                <a:latin typeface="Calibri"/>
              </a:rPr>
              <a:t>—  Produtos vencendo sem ninguém perceber a tempo — prejuízo direto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800">
                <a:solidFill>
                  <a:srgbClr val="33312C"/>
                </a:solidFill>
                <a:latin typeface="Calibri"/>
              </a:rPr>
              <a:t>—  Falta de visão clara de quando repor um produto antes que ele acabe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800">
                <a:solidFill>
                  <a:srgbClr val="33312C"/>
                </a:solidFill>
                <a:latin typeface="Calibri"/>
              </a:rPr>
              <a:t>—  Dificuldade em saber, na hora, quanto vale o estoque parado na loja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800">
                <a:solidFill>
                  <a:srgbClr val="33312C"/>
                </a:solidFill>
                <a:latin typeface="Calibri"/>
              </a:rPr>
              <a:t>—  Sistemas prontos do mercado cobram mensalidade alta para um negócio pequeno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A7263"/>
                </a:solidFill>
                <a:latin typeface="Calibri"/>
              </a:rPr>
              <a:t>2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E57AB1A-C537-2AA8-D9EE-234865C97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72" y="6270196"/>
            <a:ext cx="727552" cy="7275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3312C"/>
                </a:solidFill>
                <a:latin typeface="Calibri"/>
              </a:rPr>
              <a:t>A solução: um sistema simples, feito sob medida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005840" cy="38100"/>
          </a:xfrm>
          <a:prstGeom prst="rect">
            <a:avLst/>
          </a:prstGeom>
          <a:solidFill>
            <a:srgbClr val="AB9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33312C"/>
                </a:solidFill>
                <a:latin typeface="Calibri"/>
              </a:rPr>
              <a:t>—  Cadastro completo de produtos, com preço de custo, venda e estoque mínimo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33312C"/>
                </a:solidFill>
                <a:latin typeface="Calibri"/>
              </a:rPr>
              <a:t>—  Controle de entrada e saída, com data de validade por lote — essencial para cosméticos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33312C"/>
                </a:solidFill>
                <a:latin typeface="Calibri"/>
              </a:rPr>
              <a:t>—  Alertas automáticos de estoque baixo e produtos próximos do vencimento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33312C"/>
                </a:solidFill>
                <a:latin typeface="Calibri"/>
              </a:rPr>
              <a:t>—  Relatórios de valor em estoque e exportação para Excel/CSV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33312C"/>
                </a:solidFill>
                <a:latin typeface="Calibri"/>
              </a:rPr>
              <a:t>—  Identidade visual 100% personalizada com a marca do cliente (cores e logotipo)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33312C"/>
                </a:solidFill>
                <a:latin typeface="Calibri"/>
              </a:rPr>
              <a:t>—  Roda direto no computador da loja — sem mensalidade de servidor obrigatória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A7263"/>
                </a:solidFill>
                <a:latin typeface="Calibri"/>
              </a:rPr>
              <a:t>3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AF73AC5-0892-E12B-9FBA-DEDFFBD5A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72" y="6270196"/>
            <a:ext cx="727552" cy="7275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3312C"/>
                </a:solidFill>
                <a:latin typeface="Calibri"/>
              </a:rPr>
              <a:t>Dashboard — visão geral em um só lugar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005840" cy="38100"/>
          </a:xfrm>
          <a:prstGeom prst="rect">
            <a:avLst/>
          </a:prstGeom>
          <a:solidFill>
            <a:srgbClr val="AB9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7A7263"/>
                </a:solidFill>
                <a:latin typeface="Calibri"/>
              </a:rPr>
              <a:t>A primeira tela ao abrir o sistema</a:t>
            </a:r>
          </a:p>
        </p:txBody>
      </p:sp>
      <p:pic>
        <p:nvPicPr>
          <p:cNvPr id="6" name="Picture 5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949440" cy="4343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600200"/>
            <a:ext cx="6949440" cy="4343400"/>
          </a:xfrm>
          <a:prstGeom prst="rect">
            <a:avLst/>
          </a:prstGeom>
          <a:noFill/>
          <a:ln w="12700">
            <a:solidFill>
              <a:srgbClr val="E3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18120" y="17373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Quantidade de produtos ativos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Valor total investido em estoque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Alertas de estoque baixo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Alertas de produtos vencendo em até 30 dias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Tudo visível sem precisar navegar por menus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A7263"/>
                </a:solidFill>
                <a:latin typeface="Calibri"/>
              </a:rPr>
              <a:t>4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E2F1599-6A72-78FA-151D-721E58B32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72" y="6270196"/>
            <a:ext cx="727552" cy="7275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3312C"/>
                </a:solidFill>
                <a:latin typeface="Calibri"/>
              </a:rPr>
              <a:t>Produtos — cadastro e consulta rápida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005840" cy="38100"/>
          </a:xfrm>
          <a:prstGeom prst="rect">
            <a:avLst/>
          </a:prstGeom>
          <a:solidFill>
            <a:srgbClr val="AB9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7A7263"/>
                </a:solidFill>
                <a:latin typeface="Calibri"/>
              </a:rPr>
              <a:t>Menu lateral · Produtos</a:t>
            </a:r>
          </a:p>
        </p:txBody>
      </p:sp>
      <p:pic>
        <p:nvPicPr>
          <p:cNvPr id="6" name="Picture 5" descr="02_produ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949440" cy="4343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600200"/>
            <a:ext cx="6949440" cy="4343400"/>
          </a:xfrm>
          <a:prstGeom prst="rect">
            <a:avLst/>
          </a:prstGeom>
          <a:noFill/>
          <a:ln w="12700">
            <a:solidFill>
              <a:srgbClr val="E3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18120" y="17373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Busca por nome, categoria, marca ou código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Cadastro de preço de custo, venda e estoque mínimo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Ativar/desativar produtos sem perder o histórico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Edição rápida direto na lista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A7263"/>
                </a:solidFill>
                <a:latin typeface="Calibri"/>
              </a:rPr>
              <a:t>5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6631C97-CA6D-EB0A-E7FB-CC52066E8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72" y="6270196"/>
            <a:ext cx="727552" cy="7275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3312C"/>
                </a:solidFill>
                <a:latin typeface="Calibri"/>
              </a:rPr>
              <a:t>Cadastro de novo produto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005840" cy="38100"/>
          </a:xfrm>
          <a:prstGeom prst="rect">
            <a:avLst/>
          </a:prstGeom>
          <a:solidFill>
            <a:srgbClr val="AB9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7A7263"/>
                </a:solidFill>
                <a:latin typeface="Calibri"/>
              </a:rPr>
              <a:t>Produtos · + Novo produto</a:t>
            </a:r>
          </a:p>
        </p:txBody>
      </p:sp>
      <p:pic>
        <p:nvPicPr>
          <p:cNvPr id="6" name="Picture 5" descr="03_produtos_novo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949440" cy="4343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600200"/>
            <a:ext cx="6949440" cy="4343400"/>
          </a:xfrm>
          <a:prstGeom prst="rect">
            <a:avLst/>
          </a:prstGeom>
          <a:noFill/>
          <a:ln w="12700">
            <a:solidFill>
              <a:srgbClr val="E3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18120" y="17373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Formulário simples e direto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Apenas o nome é obrigatório — o resto é opcional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Validação automática de preços e quantidades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Pensado para ser preenchido em segundos, no balcão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A7263"/>
                </a:solidFill>
                <a:latin typeface="Calibri"/>
              </a:rPr>
              <a:t>6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67BA7F0-3001-470B-24C0-6391F0FC8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72" y="6270196"/>
            <a:ext cx="727552" cy="7275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3312C"/>
                </a:solidFill>
                <a:latin typeface="Calibri"/>
              </a:rPr>
              <a:t>Movimentações — Entrada e Saída de estoque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005840" cy="38100"/>
          </a:xfrm>
          <a:prstGeom prst="rect">
            <a:avLst/>
          </a:prstGeom>
          <a:solidFill>
            <a:srgbClr val="AB9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7A7263"/>
                </a:solidFill>
                <a:latin typeface="Calibri"/>
              </a:rPr>
              <a:t>Menu lateral · Movimentações</a:t>
            </a:r>
          </a:p>
        </p:txBody>
      </p:sp>
      <p:pic>
        <p:nvPicPr>
          <p:cNvPr id="6" name="Picture 5" descr="04_movimentacoes_entr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5577840" cy="34861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1691640"/>
            <a:ext cx="5577840" cy="3486150"/>
          </a:xfrm>
          <a:prstGeom prst="rect">
            <a:avLst/>
          </a:prstGeom>
          <a:noFill/>
          <a:ln w="12700">
            <a:solidFill>
              <a:srgbClr val="E3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5_movimentacoes_sai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91640"/>
            <a:ext cx="5577840" cy="34861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72200" y="1691640"/>
            <a:ext cx="5577840" cy="3486150"/>
          </a:xfrm>
          <a:prstGeom prst="rect">
            <a:avLst/>
          </a:prstGeom>
          <a:noFill/>
          <a:ln w="12700">
            <a:solidFill>
              <a:srgbClr val="E3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52120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Entrada registra a validade de cada lote recebido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Saída pede o motivo (venda, perda, vencido ou ajuste) e desconta automaticamente do lote mais próximo do vencimento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A7263"/>
                </a:solidFill>
                <a:latin typeface="Calibri"/>
              </a:rPr>
              <a:t>7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891B259-7601-2408-EA02-359A3B5EA2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598" y="6271782"/>
            <a:ext cx="727552" cy="7275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3312C"/>
                </a:solidFill>
                <a:latin typeface="Calibri"/>
              </a:rPr>
              <a:t>Movimentações — Histórico completo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005840" cy="38100"/>
          </a:xfrm>
          <a:prstGeom prst="rect">
            <a:avLst/>
          </a:prstGeom>
          <a:solidFill>
            <a:srgbClr val="AB9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7A7263"/>
                </a:solidFill>
                <a:latin typeface="Calibri"/>
              </a:rPr>
              <a:t>Movimentações · Histórico</a:t>
            </a:r>
          </a:p>
        </p:txBody>
      </p:sp>
      <p:pic>
        <p:nvPicPr>
          <p:cNvPr id="6" name="Picture 5" descr="06_movimentacoes_histor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949440" cy="4343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600200"/>
            <a:ext cx="6949440" cy="4343400"/>
          </a:xfrm>
          <a:prstGeom prst="rect">
            <a:avLst/>
          </a:prstGeom>
          <a:noFill/>
          <a:ln w="12700">
            <a:solidFill>
              <a:srgbClr val="E3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18120" y="17373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Todo o histórico de entradas e saídas, sempre disponível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Filtro por tipo de movimentação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Rastreabilidade total: dá pra conferir qualquer venda ou reposição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A7263"/>
                </a:solidFill>
                <a:latin typeface="Calibri"/>
              </a:rPr>
              <a:t>8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7AB2FE3-6AD3-68E1-E341-93AA6B9E7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72" y="6270196"/>
            <a:ext cx="727552" cy="7275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3312C"/>
                </a:solidFill>
                <a:latin typeface="Calibri"/>
              </a:rPr>
              <a:t>Relatórios — decisões com base em números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005840" cy="38100"/>
          </a:xfrm>
          <a:prstGeom prst="rect">
            <a:avLst/>
          </a:prstGeom>
          <a:solidFill>
            <a:srgbClr val="AB9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7A7263"/>
                </a:solidFill>
                <a:latin typeface="Calibri"/>
              </a:rPr>
              <a:t>Menu lateral · Relatórios</a:t>
            </a:r>
          </a:p>
        </p:txBody>
      </p:sp>
      <p:pic>
        <p:nvPicPr>
          <p:cNvPr id="6" name="Picture 5" descr="07_relato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949440" cy="4343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600200"/>
            <a:ext cx="6949440" cy="4343400"/>
          </a:xfrm>
          <a:prstGeom prst="rect">
            <a:avLst/>
          </a:prstGeom>
          <a:noFill/>
          <a:ln w="12700">
            <a:solidFill>
              <a:srgbClr val="E3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18120" y="17373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Valor total do estoque, por custo e por venda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Produtos com estoque baixo destacados automaticamente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Exportação para CSV/Excel com um clique — útil para backup e contador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A7263"/>
                </a:solidFill>
                <a:latin typeface="Calibri"/>
              </a:rPr>
              <a:t>9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3271600-3B69-007B-2250-4B5CD80C1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72" y="6270196"/>
            <a:ext cx="727552" cy="7275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3312C"/>
                </a:solidFill>
                <a:latin typeface="Calibri"/>
              </a:rPr>
              <a:t>Simples por fora, sólido por dentro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005840" cy="38100"/>
          </a:xfrm>
          <a:prstGeom prst="rect">
            <a:avLst/>
          </a:prstGeom>
          <a:solidFill>
            <a:srgbClr val="AB9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1040" y="1393928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800">
                <a:solidFill>
                  <a:srgbClr val="33312C"/>
                </a:solidFill>
                <a:latin typeface="Calibri"/>
              </a:rPr>
              <a:t>—  Instalado direto no computador da loja — funciona sem internet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800">
                <a:solidFill>
                  <a:srgbClr val="33312C"/>
                </a:solidFill>
                <a:latin typeface="Calibri"/>
              </a:rPr>
              <a:t>—  Os dados ficam salvos só no seu computador, com backup fácil (exportação em CSV)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800">
                <a:solidFill>
                  <a:srgbClr val="33312C"/>
                </a:solidFill>
                <a:latin typeface="Calibri"/>
              </a:rPr>
              <a:t>—  Sem mensalidade obrigatória de servidor ou nuvem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800">
                <a:solidFill>
                  <a:srgbClr val="33312C"/>
                </a:solidFill>
                <a:latin typeface="Calibri"/>
              </a:rPr>
              <a:t>—  Abre em qualquer navegador (Chrome, Safari, Edge) — sem curva de aprendizado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800">
                <a:solidFill>
                  <a:srgbClr val="33312C"/>
                </a:solidFill>
                <a:latin typeface="Calibri"/>
              </a:rPr>
              <a:t>—  Pronto para crescer: pode evoluir para versão em nuvem ou multiusuário quando o negócio precisar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A7263"/>
                </a:solidFill>
                <a:latin typeface="Calibri"/>
              </a:rPr>
              <a:t>11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6A285BB-C794-B422-B9D8-11AFC50C6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72" y="6270196"/>
            <a:ext cx="727552" cy="7275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4025</TotalTime>
  <Words>541</Words>
  <Application>Microsoft Macintosh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Kaio Ferraz Bueno</cp:lastModifiedBy>
  <cp:revision>3</cp:revision>
  <dcterms:created xsi:type="dcterms:W3CDTF">2013-01-27T09:14:16Z</dcterms:created>
  <dcterms:modified xsi:type="dcterms:W3CDTF">2026-10-02T12:56:58Z</dcterms:modified>
  <cp:category/>
</cp:coreProperties>
</file>